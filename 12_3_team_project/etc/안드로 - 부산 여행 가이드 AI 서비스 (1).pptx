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B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126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538B6-CB22-801A-66A3-6F9CFAB89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0A0C7-0D44-BD6B-08B4-A2480BF31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218E6-AD52-1C9A-7A3F-77A01154C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9A67B-D245-B8CF-5011-75EA56488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14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3A07F-AEDB-A7CF-D37E-8AFA88FDF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F21CF-236B-BD41-71D9-485B385FA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C762F-7A1A-C1B7-F19E-7BD250111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38637-6A29-FE5A-B681-18B877348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5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9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9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9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2.png"/><Relationship Id="rId4" Type="http://schemas.openxmlformats.org/officeDocument/2006/relationships/image" Target="../media/image9.png"/><Relationship Id="rId9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69.png"/><Relationship Id="rId18" Type="http://schemas.openxmlformats.org/officeDocument/2006/relationships/image" Target="../media/image73.png"/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12" Type="http://schemas.openxmlformats.org/officeDocument/2006/relationships/image" Target="../media/image68.png"/><Relationship Id="rId17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67.png"/><Relationship Id="rId5" Type="http://schemas.openxmlformats.org/officeDocument/2006/relationships/image" Target="../media/image63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4.png"/><Relationship Id="rId4" Type="http://schemas.openxmlformats.org/officeDocument/2006/relationships/image" Target="../media/image9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5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4" Type="http://schemas.openxmlformats.org/officeDocument/2006/relationships/image" Target="../media/image9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99.png"/><Relationship Id="rId3" Type="http://schemas.openxmlformats.org/officeDocument/2006/relationships/image" Target="../media/image1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066800"/>
            <a:ext cx="390525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3175" y="5410200"/>
            <a:ext cx="428625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4625" y="1066800"/>
            <a:ext cx="257175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800" y="3181350"/>
            <a:ext cx="9144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5913" y="4629150"/>
            <a:ext cx="1400175" cy="4572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4176712" y="1771650"/>
            <a:ext cx="3838575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180" dirty="0" err="1">
                <a:solidFill>
                  <a:srgbClr val="F0F9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4500" b="1" kern="0" spc="180" dirty="0">
                <a:solidFill>
                  <a:srgbClr val="F0F9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endParaRPr lang="en-US" sz="4500" dirty="0"/>
          </a:p>
        </p:txBody>
      </p:sp>
      <p:sp>
        <p:nvSpPr>
          <p:cNvPr id="10" name="Text 1"/>
          <p:cNvSpPr/>
          <p:nvPr/>
        </p:nvSpPr>
        <p:spPr>
          <a:xfrm>
            <a:off x="3792855" y="2495550"/>
            <a:ext cx="46062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여행 가이드 AI 서비스</a:t>
            </a:r>
            <a:endParaRPr lang="en-US" sz="2700" dirty="0"/>
          </a:p>
        </p:txBody>
      </p:sp>
      <p:sp>
        <p:nvSpPr>
          <p:cNvPr id="11" name="Text 2"/>
          <p:cNvSpPr/>
          <p:nvPr/>
        </p:nvSpPr>
        <p:spPr>
          <a:xfrm>
            <a:off x="4176712" y="3524250"/>
            <a:ext cx="38385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앱 개발 프로젝트</a:t>
            </a:r>
            <a:endParaRPr lang="en-US" sz="1800" dirty="0"/>
          </a:p>
        </p:txBody>
      </p:sp>
      <p:sp>
        <p:nvSpPr>
          <p:cNvPr id="12" name="Text 3"/>
          <p:cNvSpPr/>
          <p:nvPr/>
        </p:nvSpPr>
        <p:spPr>
          <a:xfrm>
            <a:off x="4176712" y="3905250"/>
            <a:ext cx="38385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2025년도 2학기</a:t>
            </a:r>
            <a:endParaRPr lang="en-US" sz="1350" dirty="0"/>
          </a:p>
        </p:txBody>
      </p:sp>
      <p:sp>
        <p:nvSpPr>
          <p:cNvPr id="13" name="Text 4"/>
          <p:cNvSpPr/>
          <p:nvPr/>
        </p:nvSpPr>
        <p:spPr>
          <a:xfrm>
            <a:off x="5530215" y="4743450"/>
            <a:ext cx="11315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</a:t>
            </a:r>
            <a:r>
              <a:rPr lang="en-US" sz="1200" b="1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1219200" y="5638800"/>
            <a:ext cx="975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2025-12-03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1" name="Image 4" descr="preencoded.png">
            <a:extLst>
              <a:ext uri="{FF2B5EF4-FFF2-40B4-BE49-F238E27FC236}">
                <a16:creationId xmlns:a16="http://schemas.microsoft.com/office/drawing/2014/main" id="{F7A3DE6E-77FE-05B1-3D8A-B38EBE608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244" y="1865038"/>
            <a:ext cx="2643038" cy="1291679"/>
          </a:xfrm>
          <a:prstGeom prst="rect">
            <a:avLst/>
          </a:prstGeom>
        </p:spPr>
      </p:pic>
      <p:pic>
        <p:nvPicPr>
          <p:cNvPr id="49" name="Image 4" descr="preencoded.png">
            <a:extLst>
              <a:ext uri="{FF2B5EF4-FFF2-40B4-BE49-F238E27FC236}">
                <a16:creationId xmlns:a16="http://schemas.microsoft.com/office/drawing/2014/main" id="{BECC87D0-88D3-F01A-6D5E-B781C2702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835" y="1865037"/>
            <a:ext cx="2643038" cy="129167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990600"/>
            <a:ext cx="10972800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181100"/>
            <a:ext cx="2857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1" y="1866900"/>
            <a:ext cx="2457182" cy="129167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0100" y="20574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688" y="213360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77311" y="20574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5898" y="213360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18562" y="20574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7150" y="2133600"/>
            <a:ext cx="20002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349079"/>
            <a:ext cx="10972800" cy="1295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3539579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3996779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81500" y="3996779"/>
            <a:ext cx="1333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62900" y="3996779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구성 및 역할 분담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200150" y="1181100"/>
            <a:ext cx="30060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팀원별 역할 분담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1371600" y="2057400"/>
            <a:ext cx="617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 err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</a:rPr>
              <a:t>김성보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371600" y="2324100"/>
            <a:ext cx="617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리더</a:t>
            </a:r>
            <a:endParaRPr lang="en-US" sz="1050" dirty="0"/>
          </a:p>
        </p:txBody>
      </p:sp>
      <p:sp>
        <p:nvSpPr>
          <p:cNvPr id="24" name="Text 4"/>
          <p:cNvSpPr/>
          <p:nvPr/>
        </p:nvSpPr>
        <p:spPr>
          <a:xfrm>
            <a:off x="914400" y="2628900"/>
            <a:ext cx="1727126" cy="2820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</a:t>
            </a:r>
            <a:r>
              <a:rPr lang="ko-KR" altLang="en-US" sz="108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롬프트</a:t>
            </a: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altLang="ko-KR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 </a:t>
            </a: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</a:t>
            </a:r>
            <a:endParaRPr lang="en-US" sz="1080" dirty="0"/>
          </a:p>
        </p:txBody>
      </p:sp>
      <p:sp>
        <p:nvSpPr>
          <p:cNvPr id="27" name="Text 7"/>
          <p:cNvSpPr/>
          <p:nvPr/>
        </p:nvSpPr>
        <p:spPr>
          <a:xfrm>
            <a:off x="4048811" y="2057400"/>
            <a:ext cx="617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 err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</a:rPr>
              <a:t>허윤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4048811" y="2324100"/>
            <a:ext cx="617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팀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3591611" y="2628900"/>
            <a:ext cx="2093695" cy="2820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Flow </a:t>
            </a: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프로젝트 생성 </a:t>
            </a:r>
            <a:r>
              <a:rPr lang="en-US" altLang="ko-KR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/ </a:t>
            </a: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코드 추가수정</a:t>
            </a:r>
            <a:r>
              <a:rPr lang="en-US" altLang="ko-KR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기능 및 앱 점검</a:t>
            </a:r>
            <a:endParaRPr lang="en-US" sz="1080" dirty="0"/>
          </a:p>
        </p:txBody>
      </p:sp>
      <p:sp>
        <p:nvSpPr>
          <p:cNvPr id="32" name="Text 12"/>
          <p:cNvSpPr/>
          <p:nvPr/>
        </p:nvSpPr>
        <p:spPr>
          <a:xfrm>
            <a:off x="6890062" y="2057400"/>
            <a:ext cx="617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 err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</a:rPr>
              <a:t>공민승</a:t>
            </a:r>
            <a:endParaRPr lang="en-US" sz="1500" dirty="0"/>
          </a:p>
        </p:txBody>
      </p:sp>
      <p:sp>
        <p:nvSpPr>
          <p:cNvPr id="33" name="Text 13"/>
          <p:cNvSpPr/>
          <p:nvPr/>
        </p:nvSpPr>
        <p:spPr>
          <a:xfrm>
            <a:off x="6890062" y="2324100"/>
            <a:ext cx="617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팀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6432862" y="2628900"/>
            <a:ext cx="1074420" cy="2820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제작</a:t>
            </a:r>
            <a:endParaRPr lang="en-US" sz="1080" dirty="0"/>
          </a:p>
        </p:txBody>
      </p:sp>
      <p:sp>
        <p:nvSpPr>
          <p:cNvPr id="37" name="Text 17"/>
          <p:cNvSpPr/>
          <p:nvPr/>
        </p:nvSpPr>
        <p:spPr>
          <a:xfrm>
            <a:off x="1200150" y="3539579"/>
            <a:ext cx="108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방식</a:t>
            </a:r>
            <a:endParaRPr lang="en-US" sz="1800" dirty="0"/>
          </a:p>
        </p:txBody>
      </p:sp>
      <p:sp>
        <p:nvSpPr>
          <p:cNvPr id="38" name="Text 18"/>
          <p:cNvSpPr/>
          <p:nvPr/>
        </p:nvSpPr>
        <p:spPr>
          <a:xfrm>
            <a:off x="1104900" y="3958679"/>
            <a:ext cx="114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미팅</a:t>
            </a:r>
            <a:endParaRPr lang="en-US" sz="1350" dirty="0"/>
          </a:p>
        </p:txBody>
      </p:sp>
      <p:sp>
        <p:nvSpPr>
          <p:cNvPr id="40" name="Text 20"/>
          <p:cNvSpPr/>
          <p:nvPr/>
        </p:nvSpPr>
        <p:spPr>
          <a:xfrm>
            <a:off x="4629150" y="3958679"/>
            <a:ext cx="9829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</a:t>
            </a:r>
            <a:endParaRPr lang="en-US" sz="1350" dirty="0"/>
          </a:p>
        </p:txBody>
      </p:sp>
      <p:sp>
        <p:nvSpPr>
          <p:cNvPr id="42" name="Text 22"/>
          <p:cNvSpPr/>
          <p:nvPr/>
        </p:nvSpPr>
        <p:spPr>
          <a:xfrm>
            <a:off x="8229600" y="3958679"/>
            <a:ext cx="1104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FLOW </a:t>
            </a:r>
            <a:r>
              <a:rPr lang="ko-KR" altLang="en-US" sz="135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툴</a:t>
            </a:r>
            <a:endParaRPr lang="en-US" sz="1350" dirty="0"/>
          </a:p>
        </p:txBody>
      </p:sp>
      <p:sp>
        <p:nvSpPr>
          <p:cNvPr id="44" name="Text 24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45" name="Text 25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/ 12</a:t>
            </a:r>
            <a:endParaRPr lang="en-US" sz="1200" dirty="0"/>
          </a:p>
        </p:txBody>
      </p:sp>
      <p:pic>
        <p:nvPicPr>
          <p:cNvPr id="50" name="Image 4" descr="preencoded.png">
            <a:extLst>
              <a:ext uri="{FF2B5EF4-FFF2-40B4-BE49-F238E27FC236}">
                <a16:creationId xmlns:a16="http://schemas.microsoft.com/office/drawing/2014/main" id="{6146DEF9-6943-2DC7-FD75-E036CE274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653" y="1865039"/>
            <a:ext cx="2643038" cy="1291679"/>
          </a:xfrm>
          <a:prstGeom prst="rect">
            <a:avLst/>
          </a:prstGeom>
        </p:spPr>
      </p:pic>
      <p:pic>
        <p:nvPicPr>
          <p:cNvPr id="59" name="Image 11" descr="preencoded.png">
            <a:extLst>
              <a:ext uri="{FF2B5EF4-FFF2-40B4-BE49-F238E27FC236}">
                <a16:creationId xmlns:a16="http://schemas.microsoft.com/office/drawing/2014/main" id="{BB22F33C-BBCB-92BA-B1AA-B50FAB42E427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183446" y="2057400"/>
            <a:ext cx="457200" cy="457200"/>
          </a:xfrm>
          <a:prstGeom prst="rect">
            <a:avLst/>
          </a:prstGeom>
        </p:spPr>
      </p:pic>
      <p:pic>
        <p:nvPicPr>
          <p:cNvPr id="60" name="Image 12" descr="preencoded.png">
            <a:extLst>
              <a:ext uri="{FF2B5EF4-FFF2-40B4-BE49-F238E27FC236}">
                <a16:creationId xmlns:a16="http://schemas.microsoft.com/office/drawing/2014/main" id="{8B57F62B-965C-A8C4-8168-E64AA17F4C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2034" y="2133600"/>
            <a:ext cx="200025" cy="304800"/>
          </a:xfrm>
          <a:prstGeom prst="rect">
            <a:avLst/>
          </a:prstGeom>
        </p:spPr>
      </p:pic>
      <p:sp>
        <p:nvSpPr>
          <p:cNvPr id="61" name="Text 12">
            <a:extLst>
              <a:ext uri="{FF2B5EF4-FFF2-40B4-BE49-F238E27FC236}">
                <a16:creationId xmlns:a16="http://schemas.microsoft.com/office/drawing/2014/main" id="{72B85CA5-6374-F318-64F7-27473471495D}"/>
              </a:ext>
            </a:extLst>
          </p:cNvPr>
          <p:cNvSpPr/>
          <p:nvPr/>
        </p:nvSpPr>
        <p:spPr>
          <a:xfrm>
            <a:off x="9754946" y="2057400"/>
            <a:ext cx="617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</a:rPr>
              <a:t>이현규</a:t>
            </a:r>
            <a:endParaRPr lang="en-US" sz="1500" dirty="0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226E13B7-D976-ACEE-7883-1EFD0123B177}"/>
              </a:ext>
            </a:extLst>
          </p:cNvPr>
          <p:cNvSpPr/>
          <p:nvPr/>
        </p:nvSpPr>
        <p:spPr>
          <a:xfrm>
            <a:off x="9754946" y="2324100"/>
            <a:ext cx="617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팀</a:t>
            </a:r>
            <a:endParaRPr lang="en-US" sz="1050" dirty="0"/>
          </a:p>
        </p:txBody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32199168-1F65-3085-2D86-E16A9F7EC477}"/>
              </a:ext>
            </a:extLst>
          </p:cNvPr>
          <p:cNvSpPr/>
          <p:nvPr/>
        </p:nvSpPr>
        <p:spPr>
          <a:xfrm>
            <a:off x="9297746" y="2628900"/>
            <a:ext cx="1381756" cy="2820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</a:t>
            </a: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및 발표</a:t>
            </a:r>
            <a:endParaRPr lang="en-US" sz="10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76350"/>
            <a:ext cx="10972800" cy="1676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257550"/>
            <a:ext cx="5372100" cy="1257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524250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743450"/>
            <a:ext cx="5372100" cy="1257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501015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257550"/>
            <a:ext cx="5372100" cy="1257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3524250"/>
            <a:ext cx="3619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743450"/>
            <a:ext cx="5372100" cy="1257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5010150"/>
            <a:ext cx="323850" cy="3429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목표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914400" y="1581150"/>
            <a:ext cx="10363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 err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8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8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프로젝트는</a:t>
            </a:r>
            <a:endParaRPr lang="en-US" sz="1800" dirty="0"/>
          </a:p>
        </p:txBody>
      </p:sp>
      <p:sp>
        <p:nvSpPr>
          <p:cNvPr id="15" name="Text 2"/>
          <p:cNvSpPr/>
          <p:nvPr/>
        </p:nvSpPr>
        <p:spPr>
          <a:xfrm>
            <a:off x="914400" y="1962150"/>
            <a:ext cx="124358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10,000명 이상의 사용자를 대상으로 하는 생성형 AI 기반의</a:t>
            </a:r>
            <a:endParaRPr lang="en-US" sz="2250" dirty="0"/>
          </a:p>
        </p:txBody>
      </p:sp>
      <p:sp>
        <p:nvSpPr>
          <p:cNvPr id="16" name="Text 3"/>
          <p:cNvSpPr/>
          <p:nvPr/>
        </p:nvSpPr>
        <p:spPr>
          <a:xfrm>
            <a:off x="914400" y="230505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여행 가이드 앱 개발을 목표로 합니다.</a:t>
            </a:r>
            <a:endParaRPr lang="en-US" sz="2250" dirty="0"/>
          </a:p>
        </p:txBody>
      </p:sp>
      <p:sp>
        <p:nvSpPr>
          <p:cNvPr id="17" name="Text 4"/>
          <p:cNvSpPr/>
          <p:nvPr/>
        </p:nvSpPr>
        <p:spPr>
          <a:xfrm>
            <a:off x="1352550" y="3486150"/>
            <a:ext cx="4400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개인화된 여행 정보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1352550" y="3829050"/>
            <a:ext cx="4400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질문(위치, 취향, 동반자 등)을 분석하여 최적의 장소를 추천합니다.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1276350" y="4972050"/>
            <a:ext cx="4476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공공데이터 연동</a:t>
            </a:r>
            <a:endParaRPr lang="en-US" sz="1500" dirty="0"/>
          </a:p>
        </p:txBody>
      </p:sp>
      <p:sp>
        <p:nvSpPr>
          <p:cNvPr id="20" name="Text 7"/>
          <p:cNvSpPr/>
          <p:nvPr/>
        </p:nvSpPr>
        <p:spPr>
          <a:xfrm>
            <a:off x="1276350" y="5314950"/>
            <a:ext cx="4476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부산시 공공데이터포털의 최신 명소, 맛집, 축제 정보를 실시간으로 반영합니다.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6953250" y="3486150"/>
            <a:ext cx="4400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대화형 인터페이스</a:t>
            </a:r>
            <a:endParaRPr lang="en-US" sz="1500" dirty="0"/>
          </a:p>
        </p:txBody>
      </p:sp>
      <p:sp>
        <p:nvSpPr>
          <p:cNvPr id="22" name="Text 9"/>
          <p:cNvSpPr/>
          <p:nvPr/>
        </p:nvSpPr>
        <p:spPr>
          <a:xfrm>
            <a:off x="6953250" y="3829050"/>
            <a:ext cx="4400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카카오톡과 유사한 직관적인 채팅 UI를 통해 사용자가 AI와 자연스럽게 소통할 수 있도록 합니다.</a:t>
            </a:r>
            <a:endParaRPr lang="en-US" sz="1200" dirty="0"/>
          </a:p>
        </p:txBody>
      </p:sp>
      <p:sp>
        <p:nvSpPr>
          <p:cNvPr id="23" name="Text 10"/>
          <p:cNvSpPr/>
          <p:nvPr/>
        </p:nvSpPr>
        <p:spPr>
          <a:xfrm>
            <a:off x="6915150" y="4972050"/>
            <a:ext cx="4438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가치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6953250" y="531495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만족도 극대화를 위해, 편리하고 풍부한 여행 경험을 선사합니다.</a:t>
            </a:r>
            <a:endParaRPr lang="en-US" sz="1200" dirty="0"/>
          </a:p>
        </p:txBody>
      </p:sp>
      <p:sp>
        <p:nvSpPr>
          <p:cNvPr id="25" name="Text 12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26" name="Text 13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562100"/>
            <a:ext cx="3555950" cy="1485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7950" y="1562100"/>
            <a:ext cx="3555950" cy="1485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8450" y="175260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6301" y="1562100"/>
            <a:ext cx="3556099" cy="1485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6801" y="1752600"/>
            <a:ext cx="20002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733800"/>
            <a:ext cx="10972800" cy="1600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4000500"/>
            <a:ext cx="257175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5875" y="49149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9875" y="49149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9625" y="4914900"/>
            <a:ext cx="152400" cy="1524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및 필요성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609600" y="1104900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여행 정보 서비스의 한계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914400" y="1752600"/>
            <a:ext cx="1577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정적인 정보 제공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800100" y="2133600"/>
            <a:ext cx="31749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서비스는 정적인 정보 제공에 그치거나, 사용자 개개인의 취향과 상황을 반영한 맞춤형 추천에는 한계가 있었습니다.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4908500" y="1771650"/>
            <a:ext cx="1097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 부족</a:t>
            </a:r>
            <a:endParaRPr lang="en-US" sz="1500" dirty="0"/>
          </a:p>
        </p:txBody>
      </p:sp>
      <p:sp>
        <p:nvSpPr>
          <p:cNvPr id="19" name="Text 5"/>
          <p:cNvSpPr/>
          <p:nvPr/>
        </p:nvSpPr>
        <p:spPr>
          <a:xfrm>
            <a:off x="4508450" y="2171700"/>
            <a:ext cx="3174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질문에 기반한 동적이고 맥락적인 여행 가이드 제공이 제한적이었습니다.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8531126" y="1771650"/>
            <a:ext cx="1988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활용의 어려움</a:t>
            </a:r>
            <a:endParaRPr lang="en-US" sz="1500" dirty="0"/>
          </a:p>
        </p:txBody>
      </p:sp>
      <p:sp>
        <p:nvSpPr>
          <p:cNvPr id="21" name="Text 7"/>
          <p:cNvSpPr/>
          <p:nvPr/>
        </p:nvSpPr>
        <p:spPr>
          <a:xfrm>
            <a:off x="8216801" y="2171700"/>
            <a:ext cx="3175099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방대한 공공데이터를 효과적으로 활용하여 사용자에게 의미 있는 정보를 제공하는 것은 기술적인 도전 과제였습니다.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609600" y="3276600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안드로야의 해결 방안</a:t>
            </a:r>
            <a:endParaRPr lang="en-US" sz="1800" dirty="0"/>
          </a:p>
        </p:txBody>
      </p:sp>
      <p:sp>
        <p:nvSpPr>
          <p:cNvPr id="23" name="Text 9"/>
          <p:cNvSpPr/>
          <p:nvPr/>
        </p:nvSpPr>
        <p:spPr>
          <a:xfrm>
            <a:off x="1285875" y="3962400"/>
            <a:ext cx="100679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AI를 활용한 동적 여행 가이드</a:t>
            </a:r>
            <a:endParaRPr lang="en-US" sz="1500" dirty="0"/>
          </a:p>
        </p:txBody>
      </p:sp>
      <p:sp>
        <p:nvSpPr>
          <p:cNvPr id="24" name="Text 10"/>
          <p:cNvSpPr/>
          <p:nvPr/>
        </p:nvSpPr>
        <p:spPr>
          <a:xfrm>
            <a:off x="1285875" y="4305300"/>
            <a:ext cx="100679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안드로야는 생성형 AI를 활용하여 기존 서비스의 한계를 극복하고, 사용자의 질문에 기반한 동적이고 맥락적인 여행 가이드를 제공함으로써 사용자 만족도를 극대화합니다.</a:t>
            </a:r>
            <a:endParaRPr lang="en-US" sz="1200" dirty="0"/>
          </a:p>
        </p:txBody>
      </p:sp>
      <p:sp>
        <p:nvSpPr>
          <p:cNvPr id="25" name="Text 11"/>
          <p:cNvSpPr/>
          <p:nvPr/>
        </p:nvSpPr>
        <p:spPr>
          <a:xfrm>
            <a:off x="1514475" y="4876800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개인화된 여행 추천</a:t>
            </a:r>
            <a:endParaRPr lang="en-US" sz="1200" dirty="0"/>
          </a:p>
        </p:txBody>
      </p:sp>
      <p:sp>
        <p:nvSpPr>
          <p:cNvPr id="26" name="Text 12"/>
          <p:cNvSpPr/>
          <p:nvPr/>
        </p:nvSpPr>
        <p:spPr>
          <a:xfrm>
            <a:off x="3038475" y="4876800"/>
            <a:ext cx="1805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공공데이터 연동</a:t>
            </a:r>
            <a:endParaRPr lang="en-US" sz="1200" dirty="0"/>
          </a:p>
        </p:txBody>
      </p:sp>
      <p:sp>
        <p:nvSpPr>
          <p:cNvPr id="27" name="Text 13"/>
          <p:cNvSpPr/>
          <p:nvPr/>
        </p:nvSpPr>
        <p:spPr>
          <a:xfrm>
            <a:off x="4848225" y="4876800"/>
            <a:ext cx="1417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대화형 인터페이스</a:t>
            </a:r>
            <a:endParaRPr lang="en-US" sz="1200" dirty="0"/>
          </a:p>
        </p:txBody>
      </p:sp>
      <p:sp>
        <p:nvSpPr>
          <p:cNvPr id="28" name="Text 14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29" name="Text 15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90700"/>
            <a:ext cx="3454301" cy="3695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750" y="209550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488" y="2286000"/>
            <a:ext cx="390525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114800"/>
            <a:ext cx="2844701" cy="838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8701" y="1790700"/>
            <a:ext cx="3454450" cy="3695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4851" y="2095500"/>
            <a:ext cx="76200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451" y="2286000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3501" y="4114800"/>
            <a:ext cx="2844850" cy="838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1790700"/>
            <a:ext cx="3454301" cy="3695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74101" y="2095500"/>
            <a:ext cx="762000" cy="762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40788" y="2286000"/>
            <a:ext cx="428625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2750" y="4343400"/>
            <a:ext cx="2844701" cy="8382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소개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250900" y="3048000"/>
            <a:ext cx="2171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개인화된 여행 추천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914400" y="3505200"/>
            <a:ext cx="2844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질문(위치, 취향, 동반자 등)을 분석하여 최적의 장소를 추천합니다.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1143000" y="4114800"/>
            <a:ext cx="20231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취향에 기반한 맞춤형 추천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1143000" y="4419600"/>
            <a:ext cx="18973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기반 근처 명소 검색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1143000" y="4724400"/>
            <a:ext cx="2240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여행 일정에 따른 추천 최적화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4758541" y="3048000"/>
            <a:ext cx="26746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공공데이터 연동</a:t>
            </a:r>
            <a:endParaRPr lang="en-US" sz="1800" dirty="0"/>
          </a:p>
        </p:txBody>
      </p:sp>
      <p:sp>
        <p:nvSpPr>
          <p:cNvPr id="23" name="Text 7"/>
          <p:cNvSpPr/>
          <p:nvPr/>
        </p:nvSpPr>
        <p:spPr>
          <a:xfrm>
            <a:off x="4673501" y="3505200"/>
            <a:ext cx="284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부산시 공공데이터포털의 최신 명소, 맛집, 축제 정보를 실시간으로 반영합니다.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4902101" y="4114800"/>
            <a:ext cx="17259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명소 및 맛집 정보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4902101" y="4419600"/>
            <a:ext cx="20688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및 이벤트 실시간 반영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4902101" y="4724400"/>
            <a:ext cx="1805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자동화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8809256" y="3048000"/>
            <a:ext cx="20916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대화형 인터페이스</a:t>
            </a:r>
            <a:endParaRPr lang="en-US" sz="1800" dirty="0"/>
          </a:p>
        </p:txBody>
      </p:sp>
      <p:sp>
        <p:nvSpPr>
          <p:cNvPr id="28" name="Text 12"/>
          <p:cNvSpPr/>
          <p:nvPr/>
        </p:nvSpPr>
        <p:spPr>
          <a:xfrm>
            <a:off x="8432750" y="3505200"/>
            <a:ext cx="28447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카카오톡과 유사한 직관적인 채팅 UI를 통해 사용자가 AI와 자연스럽게 소통할 수 있도록 합니다.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8661350" y="4343400"/>
            <a:ext cx="1314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채팅 UI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8661350" y="4648200"/>
            <a:ext cx="27089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친화적인 자연어 인터페이스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8661350" y="4953000"/>
            <a:ext cx="262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정보에 대한 반복 질문 가능</a:t>
            </a:r>
            <a:endParaRPr lang="en-US" sz="1200" dirty="0"/>
          </a:p>
        </p:txBody>
      </p:sp>
      <p:sp>
        <p:nvSpPr>
          <p:cNvPr id="32" name="Text 16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33" name="Text 17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28700"/>
            <a:ext cx="3505200" cy="838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257300"/>
            <a:ext cx="428625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019300"/>
            <a:ext cx="3505200" cy="3505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2860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2004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028700"/>
            <a:ext cx="3505200" cy="838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1257300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2019300"/>
            <a:ext cx="3505200" cy="3505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22860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3200400"/>
            <a:ext cx="20002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028700"/>
            <a:ext cx="3505200" cy="838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0" y="1257300"/>
            <a:ext cx="3429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200" y="2019300"/>
            <a:ext cx="3505200" cy="3505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5800" y="22860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5800" y="32004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5800" y="4114800"/>
            <a:ext cx="17145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및 개발 환경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419225" y="1295400"/>
            <a:ext cx="8458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기술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1181100" y="2247900"/>
            <a:ext cx="3246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Gemini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181100" y="2552700"/>
            <a:ext cx="2705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모델을 활용하여 AI의 핵심 기능을 구현했습니다.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181100" y="3162300"/>
            <a:ext cx="2705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DeepSeek AI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1181100" y="3467100"/>
            <a:ext cx="2705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형태로 AI 기능을 제공하는 툴로, 초기 아이디어 구상 시 고려되었습니다.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5029200" y="1295400"/>
            <a:ext cx="133731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소스</a:t>
            </a:r>
            <a:endParaRPr lang="en-US" sz="1800" dirty="0"/>
          </a:p>
        </p:txBody>
      </p:sp>
      <p:sp>
        <p:nvSpPr>
          <p:cNvPr id="27" name="Text 7"/>
          <p:cNvSpPr/>
          <p:nvPr/>
        </p:nvSpPr>
        <p:spPr>
          <a:xfrm>
            <a:off x="4943475" y="2247900"/>
            <a:ext cx="26765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부산시 공공데이터포털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4943475" y="2552700"/>
            <a:ext cx="26765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명소, 맛집, 축제 등 실시간 데이터를 연동하여 최신 정보를 제공합니다.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4886325" y="3162300"/>
            <a:ext cx="27336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data.go.kr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4886325" y="3467100"/>
            <a:ext cx="27336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추가적인 공공데이터를 활용하여 풍부한 여행 정보를 구축합니다.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8801100" y="1295400"/>
            <a:ext cx="108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도구</a:t>
            </a:r>
            <a:endParaRPr lang="en-US" sz="1800" dirty="0"/>
          </a:p>
        </p:txBody>
      </p:sp>
      <p:sp>
        <p:nvSpPr>
          <p:cNvPr id="32" name="Text 12"/>
          <p:cNvSpPr/>
          <p:nvPr/>
        </p:nvSpPr>
        <p:spPr>
          <a:xfrm>
            <a:off x="8648700" y="2247900"/>
            <a:ext cx="2705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툴</a:t>
            </a:r>
            <a:endParaRPr lang="en-US" sz="1500" dirty="0"/>
          </a:p>
        </p:txBody>
      </p:sp>
      <p:sp>
        <p:nvSpPr>
          <p:cNvPr id="33" name="Text 13"/>
          <p:cNvSpPr/>
          <p:nvPr/>
        </p:nvSpPr>
        <p:spPr>
          <a:xfrm>
            <a:off x="8648700" y="2552700"/>
            <a:ext cx="2705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FLOW: 팀원 간의 원활한 소통과 업무 관리를 위한 협업 툴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8648700" y="3162300"/>
            <a:ext cx="2705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디자인</a:t>
            </a:r>
            <a:endParaRPr lang="en-US" sz="1500" dirty="0"/>
          </a:p>
        </p:txBody>
      </p:sp>
      <p:sp>
        <p:nvSpPr>
          <p:cNvPr id="35" name="Text 15"/>
          <p:cNvSpPr/>
          <p:nvPr/>
        </p:nvSpPr>
        <p:spPr>
          <a:xfrm>
            <a:off x="8648700" y="3467100"/>
            <a:ext cx="2705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Figma: 앱 화면 구상 및 UI/UX 디자인을 위한 기획 툴</a:t>
            </a:r>
            <a:endParaRPr lang="en-US" sz="1200" dirty="0"/>
          </a:p>
        </p:txBody>
      </p:sp>
      <p:sp>
        <p:nvSpPr>
          <p:cNvPr id="36" name="Text 16"/>
          <p:cNvSpPr/>
          <p:nvPr/>
        </p:nvSpPr>
        <p:spPr>
          <a:xfrm>
            <a:off x="8591550" y="4076700"/>
            <a:ext cx="3314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Cordova Plugins</a:t>
            </a:r>
            <a:endParaRPr lang="en-US" sz="1500" dirty="0"/>
          </a:p>
        </p:txBody>
      </p:sp>
      <p:sp>
        <p:nvSpPr>
          <p:cNvPr id="37" name="Text 17"/>
          <p:cNvSpPr/>
          <p:nvPr/>
        </p:nvSpPr>
        <p:spPr>
          <a:xfrm>
            <a:off x="8591550" y="4381500"/>
            <a:ext cx="2762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cordova-plugin-inappbrowser: 외부 링크 열기</a:t>
            </a:r>
            <a:endParaRPr lang="en-US" sz="1200" dirty="0"/>
          </a:p>
        </p:txBody>
      </p:sp>
      <p:sp>
        <p:nvSpPr>
          <p:cNvPr id="38" name="Text 18"/>
          <p:cNvSpPr/>
          <p:nvPr/>
        </p:nvSpPr>
        <p:spPr>
          <a:xfrm>
            <a:off x="8591550" y="4838700"/>
            <a:ext cx="2762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cordova-plugin-network-information: 네트워크 상태 확인</a:t>
            </a:r>
            <a:endParaRPr lang="en-US" sz="1200" dirty="0"/>
          </a:p>
        </p:txBody>
      </p:sp>
      <p:sp>
        <p:nvSpPr>
          <p:cNvPr id="39" name="Text 19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40" name="Text 20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990725"/>
            <a:ext cx="5181600" cy="32956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409700"/>
            <a:ext cx="5486400" cy="1257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16764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895600"/>
            <a:ext cx="5486400" cy="1257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3162300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4381500"/>
            <a:ext cx="5486400" cy="1485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4648200"/>
            <a:ext cx="285750" cy="3429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디자인</a:t>
            </a:r>
            <a:endParaRPr lang="en-US" sz="2700" dirty="0"/>
          </a:p>
        </p:txBody>
      </p:sp>
      <p:sp>
        <p:nvSpPr>
          <p:cNvPr id="12" name="Text 1"/>
          <p:cNvSpPr/>
          <p:nvPr/>
        </p:nvSpPr>
        <p:spPr>
          <a:xfrm>
            <a:off x="6762750" y="163830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깔끔하고 부산다운 </a:t>
            </a:r>
            <a:r>
              <a:rPr lang="en-US" sz="1500" b="1" dirty="0" err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</a:t>
            </a:r>
            <a:endParaRPr lang="en-US" sz="1500" dirty="0"/>
          </a:p>
        </p:txBody>
      </p:sp>
      <p:sp>
        <p:nvSpPr>
          <p:cNvPr id="13" name="Text 2"/>
          <p:cNvSpPr/>
          <p:nvPr/>
        </p:nvSpPr>
        <p:spPr>
          <a:xfrm>
            <a:off x="6762750" y="1981200"/>
            <a:ext cx="459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밝은</a:t>
            </a: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색상과, 부산을 연상시키는 바다와 하늘 색상을 조합하여 현대적이고 깔끔한 디자인을 구현했습니다.</a:t>
            </a:r>
            <a:endParaRPr lang="en-US" sz="1200" dirty="0"/>
          </a:p>
        </p:txBody>
      </p:sp>
      <p:sp>
        <p:nvSpPr>
          <p:cNvPr id="14" name="Text 3"/>
          <p:cNvSpPr/>
          <p:nvPr/>
        </p:nvSpPr>
        <p:spPr>
          <a:xfrm>
            <a:off x="6838950" y="3124200"/>
            <a:ext cx="4514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카카오톡형 채팅 인터페이스</a:t>
            </a:r>
            <a:endParaRPr lang="en-US" sz="1500" dirty="0"/>
          </a:p>
        </p:txBody>
      </p:sp>
      <p:sp>
        <p:nvSpPr>
          <p:cNvPr id="15" name="Text 4"/>
          <p:cNvSpPr/>
          <p:nvPr/>
        </p:nvSpPr>
        <p:spPr>
          <a:xfrm>
            <a:off x="6838950" y="3467100"/>
            <a:ext cx="451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채팅 UI를 통해 사용자가 AI와 자연스럽게 소통할 수 있도록 하여, 편리하고 직관적인 여행 경험을 제공합니다.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6762750" y="461010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원칙</a:t>
            </a:r>
            <a:endParaRPr lang="en-US" sz="1500" dirty="0"/>
          </a:p>
        </p:txBody>
      </p:sp>
      <p:sp>
        <p:nvSpPr>
          <p:cNvPr id="17" name="Text 6"/>
          <p:cNvSpPr/>
          <p:nvPr/>
        </p:nvSpPr>
        <p:spPr>
          <a:xfrm>
            <a:off x="6762750" y="4953000"/>
            <a:ext cx="45910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최대한의 가독성과 사용자 친화성을 위해, 여백을 충분히 두고 깔끔한 레이아웃을 구성했습니다. 사용자 흐름을 방해하지 않도록 모든 요소는 신중하게 배치되었습니다.</a:t>
            </a:r>
            <a:endParaRPr lang="en-US" sz="1200" dirty="0"/>
          </a:p>
        </p:txBody>
      </p:sp>
      <p:sp>
        <p:nvSpPr>
          <p:cNvPr id="18" name="Text 7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28700"/>
            <a:ext cx="10972800" cy="990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333500"/>
            <a:ext cx="428625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247900"/>
            <a:ext cx="2438400" cy="952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7825" y="2400300"/>
            <a:ext cx="3619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4301" y="2247900"/>
            <a:ext cx="2438400" cy="952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2526" y="2400300"/>
            <a:ext cx="3619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9002" y="2247900"/>
            <a:ext cx="2438400" cy="952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94377" y="2400300"/>
            <a:ext cx="2476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3702" y="2247900"/>
            <a:ext cx="2438400" cy="952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20027" y="2400300"/>
            <a:ext cx="2857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505200"/>
            <a:ext cx="5372100" cy="1181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37338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3505200"/>
            <a:ext cx="5372100" cy="1181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733800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914900"/>
            <a:ext cx="5372100" cy="1181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51435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4914900"/>
            <a:ext cx="5372100" cy="1181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5143500"/>
            <a:ext cx="228600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 활용 방안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1419225" y="1257300"/>
            <a:ext cx="5257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Gemini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419225" y="15621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버전 Gemini 3.5 모델을 활용하여 AI의 핵심 기능을 구현합니다.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762000" y="2819400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 수신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3393341" y="2819400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natural language processing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6451402" y="2819400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및 검색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9082742" y="2819400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개인화된 추천 결과 제공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1181100" y="36957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맥락적 대화 이해</a:t>
            </a:r>
            <a:endParaRPr lang="en-US" sz="1500" dirty="0"/>
          </a:p>
        </p:txBody>
      </p:sp>
      <p:sp>
        <p:nvSpPr>
          <p:cNvPr id="30" name="Text 8"/>
          <p:cNvSpPr/>
          <p:nvPr/>
        </p:nvSpPr>
        <p:spPr>
          <a:xfrm>
            <a:off x="1181100" y="40386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질문의맥락을 분석하여 자연스럽고 정확한 답변을 제공합니다. 이전 대화 내용을 기억하고 반영합니다.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6838950" y="36957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개인화된 추천 시스템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6838950" y="403860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위치, 취향, 동반자 등 개인 정보를 분석하여 최적의 여행 장소를 추천합니다.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181100" y="51054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정보 처리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1181100" y="54483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부산 여행 정보를 실시간으로 분석하여 사용자에게 제공합니다. 변경된 정보도 즉시 반영합니다.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6781800" y="51054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다국어 지원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6781800" y="54483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다국어로 된 사용자 질문을 이해하고 답변할 수 있어 </a:t>
            </a:r>
            <a:r>
              <a:rPr lang="en-US" sz="1200" dirty="0" err="1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국제적인</a:t>
            </a: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사용자에게도</a:t>
            </a: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서비스를 제공합니다.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78"/>
            <a:ext cx="12192000" cy="6858000"/>
          </a:xfrm>
          <a:prstGeom prst="rect">
            <a:avLst/>
          </a:prstGeom>
          <a:noFill/>
          <a:effectLst/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D995D6B0-7591-89C4-DAEB-1674DFD4BB16}"/>
              </a:ext>
            </a:extLst>
          </p:cNvPr>
          <p:cNvSpPr/>
          <p:nvPr/>
        </p:nvSpPr>
        <p:spPr>
          <a:xfrm>
            <a:off x="-6474" y="0"/>
            <a:ext cx="12192000" cy="6880770"/>
          </a:xfrm>
          <a:prstGeom prst="rect">
            <a:avLst/>
          </a:prstGeom>
          <a:gradFill flip="none" rotWithShape="1">
            <a:gsLst>
              <a:gs pos="49000">
                <a:schemeClr val="accent1">
                  <a:lumMod val="5000"/>
                  <a:lumOff val="95000"/>
                  <a:alpha val="0"/>
                </a:schemeClr>
              </a:gs>
              <a:gs pos="61000">
                <a:srgbClr val="FBFCFE">
                  <a:alpha val="46000"/>
                </a:srgbClr>
              </a:gs>
              <a:gs pos="100000">
                <a:schemeClr val="bg1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33500"/>
            <a:ext cx="6583561" cy="1333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95600"/>
            <a:ext cx="2092821" cy="1828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08610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543300"/>
            <a:ext cx="1711821" cy="990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4821" y="2895600"/>
            <a:ext cx="2092970" cy="1828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5321" y="3086100"/>
            <a:ext cx="2476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5321" y="3543300"/>
            <a:ext cx="1711970" cy="990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0191" y="2895600"/>
            <a:ext cx="2092970" cy="1828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0691" y="3086100"/>
            <a:ext cx="2476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0691" y="3543300"/>
            <a:ext cx="1711970" cy="990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953000"/>
            <a:ext cx="6583561" cy="990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5486400"/>
            <a:ext cx="6202561" cy="2667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부산시 API 연동 시스템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838200" y="1562100"/>
            <a:ext cx="61263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연동 시스템 개요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838200" y="1981200"/>
            <a:ext cx="612636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data.go.kr 및 부산시 공공데이터포털을 통해 실시간 여행 정보를 수집하고, 사용자에게 최적화된 서비스를 제공합니다.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1200150" y="3124200"/>
            <a:ext cx="891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명소 정보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685800" y="3543300"/>
            <a:ext cx="21913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실시간 관광지 정보 연동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685800" y="3810000"/>
            <a:ext cx="182612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위치 기반 근처 명소 검색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685800" y="4305300"/>
            <a:ext cx="21913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관광지 상세 정보 제공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3407271" y="3124200"/>
            <a:ext cx="891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맛집 정보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2931021" y="3543300"/>
            <a:ext cx="182627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부산 지역 맛집 데이터 연동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2931021" y="4038600"/>
            <a:ext cx="21915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메뉴 및 영업 정보 제공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2931021" y="4305300"/>
            <a:ext cx="21915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사용자 리뷰 통합 관리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5652641" y="3124200"/>
            <a:ext cx="891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정보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5176391" y="3543300"/>
            <a:ext cx="182627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진행 중인 축제 실시간 확인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5176391" y="4038600"/>
            <a:ext cx="21915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향후 축제 일정 예측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5176391" y="4305300"/>
            <a:ext cx="21915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특별 이벤트 정보 제공</a:t>
            </a:r>
            <a:endParaRPr lang="en-US" sz="1200" dirty="0"/>
          </a:p>
        </p:txBody>
      </p:sp>
      <p:sp>
        <p:nvSpPr>
          <p:cNvPr id="33" name="Text 15"/>
          <p:cNvSpPr/>
          <p:nvPr/>
        </p:nvSpPr>
        <p:spPr>
          <a:xfrm>
            <a:off x="800100" y="5143500"/>
            <a:ext cx="62025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연동의 장점</a:t>
            </a:r>
            <a:endParaRPr lang="en-US" sz="1500" dirty="0"/>
          </a:p>
        </p:txBody>
      </p:sp>
      <p:sp>
        <p:nvSpPr>
          <p:cNvPr id="34" name="Text 16"/>
          <p:cNvSpPr/>
          <p:nvPr/>
        </p:nvSpPr>
        <p:spPr>
          <a:xfrm>
            <a:off x="1066800" y="5505450"/>
            <a:ext cx="11201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정보 제공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3172718" y="5505450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정확성 보장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5783461" y="5505450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성능 최적화</a:t>
            </a:r>
            <a:endParaRPr lang="en-US" sz="1200" dirty="0"/>
          </a:p>
        </p:txBody>
      </p:sp>
      <p:sp>
        <p:nvSpPr>
          <p:cNvPr id="37" name="Text 19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38" name="Text 20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/ 12</a:t>
            </a:r>
            <a:endParaRPr lang="en-US" sz="1200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817A9EB-25FB-4571-8468-B8DA26736B51}"/>
              </a:ext>
            </a:extLst>
          </p:cNvPr>
          <p:cNvGrpSpPr/>
          <p:nvPr/>
        </p:nvGrpSpPr>
        <p:grpSpPr>
          <a:xfrm rot="8075535">
            <a:off x="7769454" y="1668163"/>
            <a:ext cx="1858222" cy="2345348"/>
            <a:chOff x="7215862" y="2525587"/>
            <a:chExt cx="1858222" cy="2345348"/>
          </a:xfrm>
        </p:grpSpPr>
        <p:sp>
          <p:nvSpPr>
            <p:cNvPr id="3" name="이등변 삼각형 2">
              <a:extLst>
                <a:ext uri="{FF2B5EF4-FFF2-40B4-BE49-F238E27FC236}">
                  <a16:creationId xmlns:a16="http://schemas.microsoft.com/office/drawing/2014/main" id="{6C54E30F-D9A2-4E8B-98C6-06CA505B5716}"/>
                </a:ext>
              </a:extLst>
            </p:cNvPr>
            <p:cNvSpPr/>
            <p:nvPr/>
          </p:nvSpPr>
          <p:spPr>
            <a:xfrm rot="13548309">
              <a:off x="6972299" y="2769150"/>
              <a:ext cx="2345348" cy="1858222"/>
            </a:xfrm>
            <a:prstGeom prst="triangle">
              <a:avLst/>
            </a:prstGeom>
            <a:gradFill>
              <a:gsLst>
                <a:gs pos="0">
                  <a:schemeClr val="accent4">
                    <a:lumMod val="40000"/>
                    <a:lumOff val="60000"/>
                  </a:schemeClr>
                </a:gs>
                <a:gs pos="0">
                  <a:schemeClr val="accent4">
                    <a:lumMod val="60000"/>
                    <a:lumOff val="40000"/>
                  </a:schemeClr>
                </a:gs>
                <a:gs pos="0">
                  <a:schemeClr val="accent4">
                    <a:lumMod val="40000"/>
                    <a:lumOff val="60000"/>
                  </a:schemeClr>
                </a:gs>
                <a:gs pos="100000">
                  <a:schemeClr val="accent4">
                    <a:lumMod val="40000"/>
                    <a:lumOff val="60000"/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사다리꼴 38">
              <a:extLst>
                <a:ext uri="{FF2B5EF4-FFF2-40B4-BE49-F238E27FC236}">
                  <a16:creationId xmlns:a16="http://schemas.microsoft.com/office/drawing/2014/main" id="{B2080FF7-348D-47CE-91D2-46DF903091C9}"/>
                </a:ext>
              </a:extLst>
            </p:cNvPr>
            <p:cNvSpPr/>
            <p:nvPr/>
          </p:nvSpPr>
          <p:spPr>
            <a:xfrm rot="13584208">
              <a:off x="7308033" y="4165973"/>
              <a:ext cx="456053" cy="243324"/>
            </a:xfrm>
            <a:prstGeom prst="trapezoid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E054413-16B0-4CCD-B2BE-DD19F0B8A86A}"/>
              </a:ext>
            </a:extLst>
          </p:cNvPr>
          <p:cNvGrpSpPr/>
          <p:nvPr/>
        </p:nvGrpSpPr>
        <p:grpSpPr>
          <a:xfrm rot="8028108">
            <a:off x="9952566" y="1740952"/>
            <a:ext cx="1858222" cy="2345348"/>
            <a:chOff x="7215862" y="2525587"/>
            <a:chExt cx="1858222" cy="2345348"/>
          </a:xfrm>
        </p:grpSpPr>
        <p:sp>
          <p:nvSpPr>
            <p:cNvPr id="47" name="이등변 삼각형 46">
              <a:extLst>
                <a:ext uri="{FF2B5EF4-FFF2-40B4-BE49-F238E27FC236}">
                  <a16:creationId xmlns:a16="http://schemas.microsoft.com/office/drawing/2014/main" id="{6018FF0F-5589-4825-AC89-FA94AB080DA7}"/>
                </a:ext>
              </a:extLst>
            </p:cNvPr>
            <p:cNvSpPr/>
            <p:nvPr/>
          </p:nvSpPr>
          <p:spPr>
            <a:xfrm rot="13548309">
              <a:off x="6972299" y="2769150"/>
              <a:ext cx="2345348" cy="1858222"/>
            </a:xfrm>
            <a:prstGeom prst="triangle">
              <a:avLst/>
            </a:prstGeom>
            <a:gradFill>
              <a:gsLst>
                <a:gs pos="0">
                  <a:schemeClr val="accent4">
                    <a:lumMod val="40000"/>
                    <a:lumOff val="60000"/>
                  </a:schemeClr>
                </a:gs>
                <a:gs pos="0">
                  <a:schemeClr val="accent4">
                    <a:lumMod val="60000"/>
                    <a:lumOff val="40000"/>
                  </a:schemeClr>
                </a:gs>
                <a:gs pos="0">
                  <a:schemeClr val="accent4">
                    <a:lumMod val="40000"/>
                    <a:lumOff val="60000"/>
                  </a:schemeClr>
                </a:gs>
                <a:gs pos="100000">
                  <a:schemeClr val="accent4">
                    <a:lumMod val="40000"/>
                    <a:lumOff val="60000"/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사다리꼴 47">
              <a:extLst>
                <a:ext uri="{FF2B5EF4-FFF2-40B4-BE49-F238E27FC236}">
                  <a16:creationId xmlns:a16="http://schemas.microsoft.com/office/drawing/2014/main" id="{49DB4FA8-AEE6-4EFF-BD48-2247C2ADA1F9}"/>
                </a:ext>
              </a:extLst>
            </p:cNvPr>
            <p:cNvSpPr/>
            <p:nvPr/>
          </p:nvSpPr>
          <p:spPr>
            <a:xfrm rot="13584208">
              <a:off x="7308033" y="4165973"/>
              <a:ext cx="456053" cy="243324"/>
            </a:xfrm>
            <a:prstGeom prst="trapezoid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0" name="그림 39" descr="텍스트, 그래픽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A68B40-E28F-E042-5FDC-ECF164C411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8711" y="2840836"/>
            <a:ext cx="3885961" cy="1178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104900"/>
            <a:ext cx="5372100" cy="2057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3335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790700"/>
            <a:ext cx="4914900" cy="1143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104900"/>
            <a:ext cx="5372100" cy="2057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33350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1790700"/>
            <a:ext cx="4914900" cy="914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467100"/>
            <a:ext cx="3530501" cy="15716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657600"/>
            <a:ext cx="885825" cy="2762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4010025"/>
            <a:ext cx="3619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0601" y="3467100"/>
            <a:ext cx="3530650" cy="15716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101" y="3657600"/>
            <a:ext cx="885825" cy="2762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21101" y="4010025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51750" y="3467100"/>
            <a:ext cx="3530501" cy="15716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42250" y="3657600"/>
            <a:ext cx="1133475" cy="2762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42250" y="4010025"/>
            <a:ext cx="361950" cy="3429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 및 차별화 포인트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1181100" y="1352550"/>
            <a:ext cx="1783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서비스의 한계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066800" y="1790700"/>
            <a:ext cx="2194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정적인 정보 제공에 그치거나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1066800" y="2133600"/>
            <a:ext cx="49949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개개인의 취향과 상황을 반영한 맞춤형 추천에 한계가 있음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066800" y="2476500"/>
            <a:ext cx="4686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방대한 공공데이터를 효과적으로 활용하여 사용자에게 의미 있는 정보를 제공하는 것이 어려움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6810375" y="1352550"/>
            <a:ext cx="1714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혁신성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6667500" y="1790700"/>
            <a:ext cx="42633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AI를 활용한 동적이고 맥락적인 여행 가이드 제공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6667500" y="2133600"/>
            <a:ext cx="38747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질문에 기반한 개인화된 여행 추천 시스템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6667500" y="2476500"/>
            <a:ext cx="3611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부산시 공공데이터포털과의 실시간 연동 시스템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914400" y="3657600"/>
            <a:ext cx="106299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혁신적 접근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1276350" y="4048125"/>
            <a:ext cx="173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개인화 추천</a:t>
            </a:r>
            <a:endParaRPr lang="en-US" sz="1350" dirty="0"/>
          </a:p>
        </p:txBody>
      </p:sp>
      <p:sp>
        <p:nvSpPr>
          <p:cNvPr id="30" name="Text 11"/>
          <p:cNvSpPr/>
          <p:nvPr/>
        </p:nvSpPr>
        <p:spPr>
          <a:xfrm>
            <a:off x="800100" y="4467225"/>
            <a:ext cx="31495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위치, 취향, 동반자 등 질문을 분석하여 최적의 장소를 추천합니다.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4635401" y="3657600"/>
            <a:ext cx="106299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통합</a:t>
            </a:r>
            <a:endParaRPr lang="en-US" sz="1050" dirty="0"/>
          </a:p>
        </p:txBody>
      </p:sp>
      <p:sp>
        <p:nvSpPr>
          <p:cNvPr id="32" name="Text 13"/>
          <p:cNvSpPr/>
          <p:nvPr/>
        </p:nvSpPr>
        <p:spPr>
          <a:xfrm>
            <a:off x="4883051" y="4048125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공공데이터 연동</a:t>
            </a:r>
            <a:endParaRPr lang="en-US" sz="1350" dirty="0"/>
          </a:p>
        </p:txBody>
      </p:sp>
      <p:sp>
        <p:nvSpPr>
          <p:cNvPr id="33" name="Text 14"/>
          <p:cNvSpPr/>
          <p:nvPr/>
        </p:nvSpPr>
        <p:spPr>
          <a:xfrm>
            <a:off x="4521101" y="4467225"/>
            <a:ext cx="3149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부산시 공공데이터포털의 최신 명소, 맛집, 축제 정보를 실시간으로 반영합니다.</a:t>
            </a:r>
            <a:endParaRPr lang="en-US" sz="1050" dirty="0"/>
          </a:p>
        </p:txBody>
      </p:sp>
      <p:sp>
        <p:nvSpPr>
          <p:cNvPr id="34" name="Text 15"/>
          <p:cNvSpPr/>
          <p:nvPr/>
        </p:nvSpPr>
        <p:spPr>
          <a:xfrm>
            <a:off x="8356550" y="3657600"/>
            <a:ext cx="136017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 혁신</a:t>
            </a:r>
            <a:endParaRPr lang="en-US" sz="1050" dirty="0"/>
          </a:p>
        </p:txBody>
      </p:sp>
      <p:sp>
        <p:nvSpPr>
          <p:cNvPr id="35" name="Text 16"/>
          <p:cNvSpPr/>
          <p:nvPr/>
        </p:nvSpPr>
        <p:spPr>
          <a:xfrm>
            <a:off x="8718500" y="4048125"/>
            <a:ext cx="1611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대화형 인터페이스</a:t>
            </a:r>
            <a:endParaRPr lang="en-US" sz="1350" dirty="0"/>
          </a:p>
        </p:txBody>
      </p:sp>
      <p:sp>
        <p:nvSpPr>
          <p:cNvPr id="36" name="Text 17"/>
          <p:cNvSpPr/>
          <p:nvPr/>
        </p:nvSpPr>
        <p:spPr>
          <a:xfrm>
            <a:off x="8242250" y="4467225"/>
            <a:ext cx="31495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카카오톡과 유사한 직관적인 채팅 UI를 통해 사용자가 AI와 자연스럽게 소통할 수 있습니다.</a:t>
            </a:r>
            <a:endParaRPr lang="en-US" sz="1050" dirty="0"/>
          </a:p>
        </p:txBody>
      </p:sp>
      <p:sp>
        <p:nvSpPr>
          <p:cNvPr id="37" name="Text 18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11106150" y="6477000"/>
            <a:ext cx="57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571D9-AA02-2A38-07BB-0C060C07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3C13A62-814D-3336-D01F-614501493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3FAC3E97-9E46-4BA4-7AFA-315D5C0B7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BE6386E2-BEC6-FFCE-929D-1216925DC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224" y="1371599"/>
            <a:ext cx="9431552" cy="4114801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4C065F92-2C25-6DBD-9412-92CF03A0C8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790700"/>
            <a:ext cx="4914900" cy="1143000"/>
          </a:xfrm>
          <a:prstGeom prst="rect">
            <a:avLst/>
          </a:prstGeom>
        </p:spPr>
      </p:pic>
      <p:sp>
        <p:nvSpPr>
          <p:cNvPr id="19" name="Text 0">
            <a:extLst>
              <a:ext uri="{FF2B5EF4-FFF2-40B4-BE49-F238E27FC236}">
                <a16:creationId xmlns:a16="http://schemas.microsoft.com/office/drawing/2014/main" id="{00518F9F-42A3-C820-4548-88E4F934F75B}"/>
              </a:ext>
            </a:extLst>
          </p:cNvPr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</a:rPr>
              <a:t>느낀 점</a:t>
            </a:r>
            <a:endParaRPr lang="en-US" sz="270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C446EE65-BAD1-2E0E-5483-EFC75A7509C4}"/>
              </a:ext>
            </a:extLst>
          </p:cNvPr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3E3C7989-BD48-7125-5365-3F7244A29AE2}"/>
              </a:ext>
            </a:extLst>
          </p:cNvPr>
          <p:cNvSpPr/>
          <p:nvPr/>
        </p:nvSpPr>
        <p:spPr>
          <a:xfrm>
            <a:off x="11106150" y="6477000"/>
            <a:ext cx="57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12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C7F1EB-7C4C-4474-AC7F-9167CB2EDCA9}"/>
              </a:ext>
            </a:extLst>
          </p:cNvPr>
          <p:cNvSpPr txBox="1"/>
          <p:nvPr/>
        </p:nvSpPr>
        <p:spPr>
          <a:xfrm>
            <a:off x="3486509" y="1779538"/>
            <a:ext cx="52189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느낀점느낀점느낀점느낀점느낀점느낀점느낀점느낀점</a:t>
            </a:r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느낀점느낀점느낀점느낀점느낀점느낀점느낀점느낀점</a:t>
            </a:r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느낀점느낀점느낀점느낀점느낀점느낀점느낀점느낀점</a:t>
            </a:r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느낀점느낀점느낀점느낀점느낀점느낀점느낀점느낀점</a:t>
            </a:r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느낀점느낀점느낀점느낀점느낀점느낀점느낀점느낀점</a:t>
            </a:r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느낀점느낀점느낀점느낀점느낀점느낀점느낀점느낀점</a:t>
            </a:r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374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A7E8F-5C8F-8D75-172A-8A5D93A38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4A9941E-F707-AA0D-A216-878EFCEF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DA9061DE-788C-F032-B9A4-DF3BCEA34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9CF54F3-B2AB-C66B-53B5-1A92BC1A6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799" y="2391783"/>
            <a:ext cx="6046401" cy="1957039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09FF90D3-DF13-63BE-436E-44D6B06556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790700"/>
            <a:ext cx="4914900" cy="1143000"/>
          </a:xfrm>
          <a:prstGeom prst="rect">
            <a:avLst/>
          </a:prstGeom>
        </p:spPr>
      </p:pic>
      <p:sp>
        <p:nvSpPr>
          <p:cNvPr id="19" name="Text 0">
            <a:extLst>
              <a:ext uri="{FF2B5EF4-FFF2-40B4-BE49-F238E27FC236}">
                <a16:creationId xmlns:a16="http://schemas.microsoft.com/office/drawing/2014/main" id="{CBAD32F5-DF10-6450-0FAB-C074E15C8C09}"/>
              </a:ext>
            </a:extLst>
          </p:cNvPr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</a:rPr>
              <a:t>ThankYou</a:t>
            </a:r>
            <a:endParaRPr lang="en-US" sz="2700" dirty="0">
              <a:solidFill>
                <a:srgbClr val="CCFBF1"/>
              </a:solidFill>
            </a:endParaRPr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6799C067-EF39-A112-2083-979B04236D55}"/>
              </a:ext>
            </a:extLst>
          </p:cNvPr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09A79EC0-C28F-9549-BB06-84B9D410B5E6}"/>
              </a:ext>
            </a:extLst>
          </p:cNvPr>
          <p:cNvSpPr/>
          <p:nvPr/>
        </p:nvSpPr>
        <p:spPr>
          <a:xfrm>
            <a:off x="11106150" y="6477000"/>
            <a:ext cx="57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12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F2EFC5-6179-36CB-3BB4-5E0EB3E335C0}"/>
              </a:ext>
            </a:extLst>
          </p:cNvPr>
          <p:cNvSpPr txBox="1"/>
          <p:nvPr/>
        </p:nvSpPr>
        <p:spPr>
          <a:xfrm>
            <a:off x="3939037" y="2816304"/>
            <a:ext cx="43139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dirty="0">
                <a:solidFill>
                  <a:srgbClr val="CCFBF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감사합니다</a:t>
            </a:r>
            <a:r>
              <a:rPr lang="en-US" altLang="ko-KR" sz="6600" dirty="0">
                <a:solidFill>
                  <a:srgbClr val="CCFBF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6600" dirty="0">
              <a:solidFill>
                <a:srgbClr val="CCFBF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7543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978</Words>
  <Application>Microsoft Office PowerPoint</Application>
  <PresentationFormat>와이드스크린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DIT</cp:lastModifiedBy>
  <cp:revision>8</cp:revision>
  <dcterms:created xsi:type="dcterms:W3CDTF">2025-12-02T08:01:31Z</dcterms:created>
  <dcterms:modified xsi:type="dcterms:W3CDTF">2025-12-03T04:10:34Z</dcterms:modified>
</cp:coreProperties>
</file>